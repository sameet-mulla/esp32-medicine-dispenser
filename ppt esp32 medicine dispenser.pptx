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83" autoAdjust="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627" y="472611"/>
            <a:ext cx="10605834" cy="2342508"/>
          </a:xfrm>
        </p:spPr>
        <p:txBody>
          <a:bodyPr/>
          <a:lstStyle/>
          <a:p>
            <a:pPr algn="ctr"/>
            <a:r>
              <a:rPr lang="en-US" sz="7200" dirty="0" smtClean="0">
                <a:solidFill>
                  <a:schemeClr val="bg1">
                    <a:lumMod val="95000"/>
                  </a:schemeClr>
                </a:solidFill>
              </a:rPr>
              <a:t>Automatic Medicine                 Dispenser</a:t>
            </a:r>
            <a:endParaRPr lang="en-US" sz="7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09" y="3020602"/>
            <a:ext cx="5804899" cy="306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586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playback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424" y="98424"/>
            <a:ext cx="12093575" cy="666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877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9231437" cy="1163245"/>
          </a:xfrm>
        </p:spPr>
        <p:txBody>
          <a:bodyPr/>
          <a:lstStyle/>
          <a:p>
            <a:pPr algn="ctr"/>
            <a:r>
              <a:rPr lang="en-US" sz="7200" dirty="0" smtClean="0"/>
              <a:t>Aim/Objective: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35697"/>
            <a:ext cx="11787809" cy="437321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1.To </a:t>
            </a:r>
            <a:r>
              <a:rPr lang="en-US" sz="2000" dirty="0"/>
              <a:t>automate medicine dispensing using servo motors that release specific medicines from predefined compartments.	</a:t>
            </a:r>
            <a:endParaRPr lang="en-US" sz="2000" dirty="0" smtClean="0"/>
          </a:p>
          <a:p>
            <a:r>
              <a:rPr lang="en-US" sz="2000" dirty="0" smtClean="0"/>
              <a:t>2.To </a:t>
            </a:r>
            <a:r>
              <a:rPr lang="en-US" sz="2000" dirty="0"/>
              <a:t>allow remote control of the dispenser through a Wi-Fi-based web interface hosted directly on the </a:t>
            </a:r>
            <a:r>
              <a:rPr lang="en-US" sz="2000" dirty="0" smtClean="0"/>
              <a:t>ESP32.</a:t>
            </a:r>
          </a:p>
          <a:p>
            <a:r>
              <a:rPr lang="en-US" sz="2000" dirty="0" smtClean="0"/>
              <a:t>3. </a:t>
            </a:r>
            <a:r>
              <a:rPr lang="en-US" sz="2000" dirty="0"/>
              <a:t>To improve safety and efficiency in medication administration for elderly, disabled individuals, or home-care patients.	</a:t>
            </a:r>
            <a:endParaRPr lang="en-US" sz="2000" dirty="0" smtClean="0"/>
          </a:p>
          <a:p>
            <a:r>
              <a:rPr lang="en-US" sz="2000" dirty="0" smtClean="0"/>
              <a:t>4.To </a:t>
            </a:r>
            <a:r>
              <a:rPr lang="en-US" sz="2000" dirty="0"/>
              <a:t>reduce human error in taking wrong medicines or missing dosage times.	</a:t>
            </a:r>
            <a:endParaRPr lang="en-US" sz="2000" dirty="0" smtClean="0"/>
          </a:p>
          <a:p>
            <a:r>
              <a:rPr lang="en-US" sz="2000" dirty="0" smtClean="0"/>
              <a:t>5.To </a:t>
            </a:r>
            <a:r>
              <a:rPr lang="en-US" sz="2000" dirty="0"/>
              <a:t>create a low-cost, portable, smart healthcare device using minimal components and simple implementation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37686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006471" cy="666915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1315239"/>
              </p:ext>
            </p:extLst>
          </p:nvPr>
        </p:nvGraphicFramePr>
        <p:xfrm>
          <a:off x="139147" y="308116"/>
          <a:ext cx="11787809" cy="6169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2477">
                  <a:extLst>
                    <a:ext uri="{9D8B030D-6E8A-4147-A177-3AD203B41FA5}">
                      <a16:colId xmlns:a16="http://schemas.microsoft.com/office/drawing/2014/main" val="3721070777"/>
                    </a:ext>
                  </a:extLst>
                </a:gridCol>
                <a:gridCol w="5785332">
                  <a:extLst>
                    <a:ext uri="{9D8B030D-6E8A-4147-A177-3AD203B41FA5}">
                      <a16:colId xmlns:a16="http://schemas.microsoft.com/office/drawing/2014/main" val="2476183139"/>
                    </a:ext>
                  </a:extLst>
                </a:gridCol>
              </a:tblGrid>
              <a:tr h="809805">
                <a:tc>
                  <a:txBody>
                    <a:bodyPr/>
                    <a:lstStyle/>
                    <a:p>
                      <a:r>
                        <a:rPr lang="en-US" sz="4000" b="0" i="0" u="none" dirty="0" smtClean="0">
                          <a:effectLst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0" i="0" u="none" dirty="0" smtClean="0">
                          <a:effectLst/>
                        </a:rPr>
                        <a:t>Cost</a:t>
                      </a:r>
                      <a:endParaRPr lang="en-US" sz="4000" b="0" i="0" u="none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266009"/>
                  </a:ext>
                </a:extLst>
              </a:tr>
              <a:tr h="80980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Esp32</a:t>
                      </a:r>
                      <a:r>
                        <a:rPr lang="en-US" sz="4000" baseline="0" dirty="0" smtClean="0"/>
                        <a:t> Board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600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85472"/>
                  </a:ext>
                </a:extLst>
              </a:tr>
              <a:tr h="80980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Sg90 Servos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360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210194"/>
                  </a:ext>
                </a:extLst>
              </a:tr>
              <a:tr h="80980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Buzzer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50</a:t>
                      </a:r>
                      <a:r>
                        <a:rPr lang="en-US" sz="4000" baseline="0" dirty="0" smtClean="0"/>
                        <a:t>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99028"/>
                  </a:ext>
                </a:extLst>
              </a:tr>
              <a:tr h="80980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Data</a:t>
                      </a:r>
                      <a:r>
                        <a:rPr lang="en-US" sz="4000" baseline="0" dirty="0" smtClean="0"/>
                        <a:t> Cable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110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215651"/>
                  </a:ext>
                </a:extLst>
              </a:tr>
              <a:tr h="80980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Breadboard + Wires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350</a:t>
                      </a:r>
                      <a:r>
                        <a:rPr lang="en-US" sz="4000" baseline="0" dirty="0" smtClean="0"/>
                        <a:t>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109770"/>
                  </a:ext>
                </a:extLst>
              </a:tr>
              <a:tr h="1194096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Miscellaneous</a:t>
                      </a:r>
                      <a:r>
                        <a:rPr lang="en-US" sz="4000" baseline="0" dirty="0" smtClean="0"/>
                        <a:t> Component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200 rupees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807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2127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92" y="596349"/>
            <a:ext cx="10863470" cy="1838738"/>
          </a:xfrm>
        </p:spPr>
        <p:txBody>
          <a:bodyPr/>
          <a:lstStyle/>
          <a:p>
            <a:pPr algn="ctr"/>
            <a:r>
              <a:rPr lang="en-US" sz="8000" b="1" dirty="0" smtClean="0"/>
              <a:t>Why ESP32?</a:t>
            </a:r>
            <a:endParaRPr lang="en-US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808" y="2193441"/>
            <a:ext cx="11461789" cy="4485655"/>
          </a:xfrm>
        </p:spPr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ESP32-600 Rupees                                        Raspberry PI-7000 rupees                              Arduino Uno-1700 rupees</a:t>
            </a:r>
          </a:p>
          <a:p>
            <a:endParaRPr lang="en-US" dirty="0"/>
          </a:p>
          <a:p>
            <a:r>
              <a:rPr lang="en-US" dirty="0" smtClean="0"/>
              <a:t>1</a:t>
            </a:r>
            <a:r>
              <a:rPr lang="en-US" dirty="0"/>
              <a:t>.	Built-in </a:t>
            </a:r>
            <a:r>
              <a:rPr lang="en-US" dirty="0" err="1"/>
              <a:t>WiFi</a:t>
            </a:r>
            <a:r>
              <a:rPr lang="en-US" dirty="0"/>
              <a:t> – No extra module needed to control medicine dispensing wirelessly.	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	Low Cost – Very cheap compared to Raspberry Pi, Arduino + </a:t>
            </a:r>
            <a:r>
              <a:rPr lang="en-US" dirty="0" err="1"/>
              <a:t>WiFi</a:t>
            </a:r>
            <a:r>
              <a:rPr lang="en-US" dirty="0"/>
              <a:t> modules.	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	Fast Processor – 240 MHz CPU makes servo control + webserver smooth.	</a:t>
            </a:r>
            <a:endParaRPr lang="en-US" dirty="0" smtClean="0"/>
          </a:p>
          <a:p>
            <a:r>
              <a:rPr lang="en-US" dirty="0" smtClean="0"/>
              <a:t>4</a:t>
            </a:r>
            <a:r>
              <a:rPr lang="en-US" dirty="0"/>
              <a:t>.	Multiple GPIO Pins – Enough pins to control </a:t>
            </a:r>
            <a:r>
              <a:rPr lang="en-US" dirty="0" smtClean="0"/>
              <a:t>3 </a:t>
            </a:r>
            <a:r>
              <a:rPr lang="en-US" dirty="0"/>
              <a:t>servos + buzzer easily.	</a:t>
            </a:r>
            <a:endParaRPr lang="en-US" dirty="0" smtClean="0"/>
          </a:p>
          <a:p>
            <a:r>
              <a:rPr lang="en-US" dirty="0" smtClean="0"/>
              <a:t>5</a:t>
            </a:r>
            <a:r>
              <a:rPr lang="en-US" dirty="0"/>
              <a:t>.	Low Power Consumption – Works well in portable setups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1026" name="Picture 2" descr="Buy ESP32-WROOM-32 38Pin Development Board WiFi+Bluetooth Ultra-Low Power  Consumption Dual Core on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49" y="2149764"/>
            <a:ext cx="1561672" cy="188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What is a Raspberry Pi? | Opensource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565" y="2537587"/>
            <a:ext cx="2812773" cy="13463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782" y="2435087"/>
            <a:ext cx="4152280" cy="108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04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/>
              <a:t>Schematic Diagram:</a:t>
            </a:r>
            <a:endParaRPr lang="en-US" sz="48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8" y="1858617"/>
            <a:ext cx="11469757" cy="4691269"/>
          </a:xfrm>
        </p:spPr>
      </p:pic>
    </p:spTree>
    <p:extLst>
      <p:ext uri="{BB962C8B-B14F-4D97-AF65-F5344CB8AC3E}">
        <p14:creationId xmlns:p14="http://schemas.microsoft.com/office/powerpoint/2010/main" val="25664346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/>
              <a:t>Working: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98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384" y="526773"/>
            <a:ext cx="11181520" cy="824949"/>
          </a:xfrm>
        </p:spPr>
        <p:txBody>
          <a:bodyPr/>
          <a:lstStyle/>
          <a:p>
            <a:pPr algn="ctr"/>
            <a:r>
              <a:rPr lang="en-US" b="1" dirty="0" smtClean="0"/>
              <a:t>How it is Useful in  Hospitals:</a:t>
            </a:r>
            <a:endParaRPr lang="en-US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9209" y="2047461"/>
            <a:ext cx="11709125" cy="4826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1.Reduces </a:t>
            </a:r>
            <a:r>
              <a:rPr lang="en-US" dirty="0"/>
              <a:t>Nurse </a:t>
            </a:r>
            <a:r>
              <a:rPr lang="en-US" dirty="0" smtClean="0"/>
              <a:t>Workload of nurses 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Minimizes Medication </a:t>
            </a:r>
            <a:r>
              <a:rPr lang="en-US" dirty="0" smtClean="0"/>
              <a:t>Errors </a:t>
            </a:r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Reduces Physical Contact (Important for ICU / infectious </a:t>
            </a:r>
            <a:r>
              <a:rPr lang="en-US" dirty="0" smtClean="0"/>
              <a:t>wards)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4. Supports Patients Who Need Frequent </a:t>
            </a:r>
            <a:r>
              <a:rPr lang="en-US" dirty="0" smtClean="0"/>
              <a:t>Medicines certain </a:t>
            </a:r>
            <a:r>
              <a:rPr lang="en-US" dirty="0"/>
              <a:t>patients require medicines every few  </a:t>
            </a:r>
            <a:r>
              <a:rPr lang="en-US" dirty="0" smtClean="0"/>
              <a:t>hours</a:t>
            </a:r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Better Management of Multiple </a:t>
            </a:r>
            <a:r>
              <a:rPr lang="en-US" dirty="0" smtClean="0"/>
              <a:t>Patients in </a:t>
            </a:r>
            <a:r>
              <a:rPr lang="en-US" dirty="0"/>
              <a:t>large </a:t>
            </a:r>
            <a:r>
              <a:rPr lang="en-US" dirty="0" smtClean="0"/>
              <a:t>hospital </a:t>
            </a:r>
          </a:p>
          <a:p>
            <a:pPr marL="0" indent="0">
              <a:buNone/>
            </a:pPr>
            <a:r>
              <a:rPr lang="en-US" dirty="0" smtClean="0"/>
              <a:t>6</a:t>
            </a:r>
            <a:r>
              <a:rPr lang="en-US" dirty="0"/>
              <a:t>. Improves Efficiency During </a:t>
            </a:r>
            <a:r>
              <a:rPr lang="en-US" dirty="0" smtClean="0"/>
              <a:t>Emergencies </a:t>
            </a:r>
          </a:p>
          <a:p>
            <a:pPr marL="0" indent="0">
              <a:buNone/>
            </a:pPr>
            <a:r>
              <a:rPr lang="en-US" dirty="0" smtClean="0"/>
              <a:t>7. </a:t>
            </a:r>
            <a:r>
              <a:rPr lang="en-US" dirty="0"/>
              <a:t>Useful for Isolation </a:t>
            </a:r>
            <a:r>
              <a:rPr lang="en-US" dirty="0" err="1"/>
              <a:t>PatientsPatients</a:t>
            </a:r>
            <a:r>
              <a:rPr lang="en-US" dirty="0"/>
              <a:t> with infections (TB, COVID, etc.)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08" y="1455395"/>
            <a:ext cx="6619461" cy="259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022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/>
              <a:t>Conclusion: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261" y="2335696"/>
            <a:ext cx="11420061" cy="41744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1.The </a:t>
            </a:r>
            <a:r>
              <a:rPr lang="en-US" sz="2400" dirty="0"/>
              <a:t>project successfully automates medicine dispensing, reducing human error in dosage and timing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 smtClean="0"/>
              <a:t>2.ESP32 </a:t>
            </a:r>
            <a:r>
              <a:rPr lang="en-US" sz="2400" dirty="0"/>
              <a:t>proved to be an efficient controller due to its </a:t>
            </a:r>
            <a:r>
              <a:rPr lang="en-US" sz="2400" dirty="0" err="1"/>
              <a:t>WiFi</a:t>
            </a:r>
            <a:r>
              <a:rPr lang="en-US" sz="2400" dirty="0"/>
              <a:t> capability, speed, and low cost.	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3.The </a:t>
            </a:r>
            <a:r>
              <a:rPr lang="en-US" sz="2400" dirty="0"/>
              <a:t>system improves patient safety by ensuring accurate and timely delivery of medicines.	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4.The </a:t>
            </a:r>
            <a:r>
              <a:rPr lang="en-US" sz="2400" dirty="0"/>
              <a:t>device can be easily monitored or controlled remotely, making it useful for hospitals and home care.	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5.Overall</a:t>
            </a:r>
            <a:r>
              <a:rPr lang="en-US" sz="2400" dirty="0"/>
              <a:t>, the project demonstrates a reliable, scalable, and user-friendly solution for modern medical automation.</a:t>
            </a:r>
          </a:p>
        </p:txBody>
      </p:sp>
    </p:spTree>
    <p:extLst>
      <p:ext uri="{BB962C8B-B14F-4D97-AF65-F5344CB8AC3E}">
        <p14:creationId xmlns:p14="http://schemas.microsoft.com/office/powerpoint/2010/main" val="22256851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168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173</TotalTime>
  <Words>177</Words>
  <Application>Microsoft Office PowerPoint</Application>
  <PresentationFormat>Widescreen</PresentationFormat>
  <Paragraphs>57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Automatic Medicine                 Dispenser</vt:lpstr>
      <vt:lpstr>PowerPoint Presentation</vt:lpstr>
      <vt:lpstr>Aim/Objective:</vt:lpstr>
      <vt:lpstr>PowerPoint Presentation</vt:lpstr>
      <vt:lpstr>Why ESP32?</vt:lpstr>
      <vt:lpstr>Schematic Diagram:</vt:lpstr>
      <vt:lpstr>Working:</vt:lpstr>
      <vt:lpstr>How it is Useful in  Hospitals: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Medicine                 Dispenser</dc:title>
  <dc:creator>asus</dc:creator>
  <cp:lastModifiedBy>asus</cp:lastModifiedBy>
  <cp:revision>18</cp:revision>
  <dcterms:created xsi:type="dcterms:W3CDTF">2025-11-28T15:19:40Z</dcterms:created>
  <dcterms:modified xsi:type="dcterms:W3CDTF">2025-11-30T11:34:04Z</dcterms:modified>
</cp:coreProperties>
</file>